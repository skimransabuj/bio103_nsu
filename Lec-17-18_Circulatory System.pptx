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3" r:id="rId10"/>
    <p:sldId id="271" r:id="rId11"/>
    <p:sldId id="264" r:id="rId12"/>
    <p:sldId id="265" r:id="rId13"/>
    <p:sldId id="273" r:id="rId14"/>
    <p:sldId id="278" r:id="rId15"/>
    <p:sldId id="266" r:id="rId16"/>
    <p:sldId id="267" r:id="rId17"/>
    <p:sldId id="269" r:id="rId18"/>
    <p:sldId id="284" r:id="rId19"/>
    <p:sldId id="275" r:id="rId20"/>
    <p:sldId id="276" r:id="rId21"/>
    <p:sldId id="287" r:id="rId22"/>
    <p:sldId id="277" r:id="rId23"/>
    <p:sldId id="289" r:id="rId24"/>
    <p:sldId id="286" r:id="rId25"/>
    <p:sldId id="285" r:id="rId26"/>
    <p:sldId id="281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282" r:id="rId47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280" autoAdjust="0"/>
  </p:normalViewPr>
  <p:slideViewPr>
    <p:cSldViewPr>
      <p:cViewPr varScale="1">
        <p:scale>
          <a:sx n="112" d="100"/>
          <a:sy n="112" d="100"/>
        </p:scale>
        <p:origin x="1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70718-6A30-46AA-8957-717B279E741D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1D7B6-2819-407A-BACF-1314A173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19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7B2E8-48FA-4139-8BC9-798B3EF005B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E7B04-E1B9-4432-B6E7-4C9015D2E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2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1E7B04-E1B9-4432-B6E7-4C9015D2E6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43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370396B-9D9B-4EEA-A71A-5C3DEB0ACD75}" type="slidenum">
              <a:rPr lang="en-US" smtClean="0">
                <a:latin typeface="Arial" pitchFamily="34" charset="0"/>
              </a:rPr>
              <a:pPr/>
              <a:t>13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1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1E7B04-E1B9-4432-B6E7-4C9015D2E60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16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0BEE5-E599-45D7-BA56-3358AB78F11E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640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09D676-E4DA-4896-BB05-896102D84EB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402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97C3C6-1E1A-4A8E-95BF-DDB61E3125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600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32EC7B4-630A-42EC-852F-FBD937DE1162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2057400"/>
            <a:ext cx="6477000" cy="1828800"/>
          </a:xfrm>
        </p:spPr>
        <p:txBody>
          <a:bodyPr>
            <a:noAutofit/>
          </a:bodyPr>
          <a:lstStyle/>
          <a:p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Circulatory system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Lecture- 17-18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Human Circulatory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752600"/>
            <a:ext cx="7772400" cy="3886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Lecture Outline:</a:t>
            </a:r>
          </a:p>
          <a:p>
            <a:pPr lvl="1"/>
            <a:r>
              <a:rPr lang="en-GB" sz="2800" b="1" dirty="0"/>
              <a:t>Circulatory System</a:t>
            </a:r>
            <a:endParaRPr lang="en-US" sz="2800" b="1" dirty="0"/>
          </a:p>
          <a:p>
            <a:pPr lvl="1"/>
            <a:r>
              <a:rPr lang="en-GB" sz="2800" b="1" dirty="0"/>
              <a:t>Parts of the Circulatory System</a:t>
            </a:r>
            <a:endParaRPr lang="en-US" sz="2800" b="1" dirty="0"/>
          </a:p>
          <a:p>
            <a:pPr lvl="1"/>
            <a:r>
              <a:rPr lang="en-US" sz="2800" b="1" dirty="0"/>
              <a:t>The Pathway of Blood Circulation</a:t>
            </a:r>
          </a:p>
          <a:p>
            <a:pPr lvl="2"/>
            <a:r>
              <a:rPr lang="en-GB" sz="2800" b="1" dirty="0"/>
              <a:t>Systemic Circuit</a:t>
            </a:r>
          </a:p>
          <a:p>
            <a:pPr lvl="2"/>
            <a:r>
              <a:rPr lang="en-GB" sz="2800" b="1" dirty="0"/>
              <a:t>Pulmonary Circuit</a:t>
            </a:r>
          </a:p>
          <a:p>
            <a:pPr lvl="1"/>
            <a:r>
              <a:rPr lang="en-GB" sz="3200" b="1" dirty="0"/>
              <a:t>Disorders </a:t>
            </a:r>
            <a:endParaRPr lang="en-US" sz="3200" b="1" dirty="0"/>
          </a:p>
          <a:p>
            <a:pPr lvl="2"/>
            <a:endParaRPr lang="en-US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GB" sz="3200" b="1" dirty="0">
                <a:solidFill>
                  <a:srgbClr val="FF0000"/>
                </a:solidFill>
              </a:rPr>
              <a:t>Circulatory System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86200" cy="51054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GB" b="1" i="1" dirty="0"/>
              <a:t>Circulatory system</a:t>
            </a:r>
            <a:r>
              <a:rPr lang="en-GB" i="1" dirty="0"/>
              <a:t> in humans, is the combined function of the </a:t>
            </a:r>
          </a:p>
          <a:p>
            <a:pPr lvl="1"/>
            <a:r>
              <a:rPr lang="en-GB" sz="3000" b="1" i="1" dirty="0">
                <a:solidFill>
                  <a:srgbClr val="FF0000"/>
                </a:solidFill>
              </a:rPr>
              <a:t>heart, </a:t>
            </a:r>
          </a:p>
          <a:p>
            <a:pPr lvl="1"/>
            <a:r>
              <a:rPr lang="en-GB" sz="3000" b="1" i="1" dirty="0">
                <a:solidFill>
                  <a:srgbClr val="FF0000"/>
                </a:solidFill>
              </a:rPr>
              <a:t>blood and </a:t>
            </a:r>
          </a:p>
          <a:p>
            <a:pPr lvl="1"/>
            <a:r>
              <a:rPr lang="en-GB" sz="3000" b="1" i="1" dirty="0">
                <a:solidFill>
                  <a:srgbClr val="FF0000"/>
                </a:solidFill>
              </a:rPr>
              <a:t>blood vessels </a:t>
            </a:r>
            <a:r>
              <a:rPr lang="en-GB" i="1" dirty="0"/>
              <a:t>(arteries, veins and capillaries) </a:t>
            </a:r>
          </a:p>
          <a:p>
            <a:pPr lvl="1">
              <a:buNone/>
            </a:pPr>
            <a:r>
              <a:rPr lang="en-GB" sz="2800" i="1" dirty="0"/>
              <a:t>to transport </a:t>
            </a:r>
            <a:r>
              <a:rPr lang="en-GB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oxygen</a:t>
            </a:r>
            <a:r>
              <a:rPr lang="en-GB" sz="2800" i="1" dirty="0"/>
              <a:t> and </a:t>
            </a:r>
            <a:r>
              <a:rPr lang="en-GB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nutrients</a:t>
            </a:r>
            <a:r>
              <a:rPr lang="en-GB" sz="2800" i="1" dirty="0"/>
              <a:t> to organs and tissues throughout the body and carry away </a:t>
            </a:r>
            <a:r>
              <a:rPr lang="en-GB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waste</a:t>
            </a:r>
            <a:r>
              <a:rPr lang="en-GB" sz="2800" i="1" dirty="0"/>
              <a:t> products</a:t>
            </a:r>
            <a:r>
              <a:rPr lang="en-GB" sz="2800" dirty="0"/>
              <a:t>.</a:t>
            </a:r>
            <a:endParaRPr lang="en-US" sz="2800" dirty="0"/>
          </a:p>
          <a:p>
            <a:endParaRPr lang="en-US" dirty="0"/>
          </a:p>
        </p:txBody>
      </p:sp>
      <p:pic>
        <p:nvPicPr>
          <p:cNvPr id="1026" name="Picture 2" descr="http://www.health-energy-fitness.com/attachments/Image/Health_Building_101/Circulatory_Syste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4307" y="1676400"/>
            <a:ext cx="4469693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FF0000"/>
                </a:solidFill>
              </a:rPr>
              <a:t>Circulatory System- Vital Functions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229600" cy="4724400"/>
          </a:xfrm>
        </p:spPr>
        <p:txBody>
          <a:bodyPr>
            <a:normAutofit fontScale="92500"/>
          </a:bodyPr>
          <a:lstStyle/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Increases the flow of blood to meet increased energy demands during exercise and regulates body temperature.</a:t>
            </a:r>
          </a:p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When foreign substances or organisms invade the body, the circulatory system swiftly conveys disease-fighting elements of the immune system, such as white blood cells and antibodies, to regions under attack. </a:t>
            </a:r>
          </a:p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In the case of injury or bleeding, the circulatory system sends clotting cells and proteins to the affected site, which quickly stop bleeding and promote healing. </a:t>
            </a:r>
            <a:endParaRPr lang="en-US" sz="2800" dirty="0"/>
          </a:p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Circulatory System- Basic Structures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905000"/>
            <a:ext cx="8153400" cy="4267200"/>
          </a:xfrm>
        </p:spPr>
        <p:txBody>
          <a:bodyPr>
            <a:normAutofit/>
          </a:bodyPr>
          <a:lstStyle/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 fluid tissue (the blood and lymph).</a:t>
            </a:r>
            <a:endParaRPr lang="en-US" sz="2800" dirty="0"/>
          </a:p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 network of tubing (the veins and arteries) to carry the blood.</a:t>
            </a:r>
            <a:endParaRPr lang="en-US" sz="2800" dirty="0"/>
          </a:p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Specialized tubing (the capillaries) to allow diffusion of molecules to and from blood.</a:t>
            </a:r>
            <a:endParaRPr lang="en-US" sz="2800" dirty="0"/>
          </a:p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 pump (the heart) to keep the blood moving through the arteries, veins, and capillaries.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7772400" y="3048000"/>
            <a:ext cx="990600" cy="990600"/>
          </a:xfrm>
          <a:prstGeom prst="ellipse">
            <a:avLst/>
          </a:prstGeom>
          <a:gradFill>
            <a:gsLst>
              <a:gs pos="0">
                <a:srgbClr val="00B0F0"/>
              </a:gs>
              <a:gs pos="0">
                <a:srgbClr val="00B0F0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rgbClr val="00B0F0">
                <a:alpha val="8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1910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62600" y="3200400"/>
            <a:ext cx="1981200" cy="685800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500062"/>
            <a:ext cx="1904999" cy="4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Part of the Circulatory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3276600"/>
            <a:ext cx="8001000" cy="1752600"/>
          </a:xfrm>
        </p:spPr>
        <p:txBody>
          <a:bodyPr/>
          <a:lstStyle/>
          <a:p>
            <a:pPr>
              <a:buNone/>
            </a:pPr>
            <a:r>
              <a:rPr lang="en-GB" b="1" i="1" dirty="0"/>
              <a:t>   	</a:t>
            </a:r>
            <a:r>
              <a:rPr lang="en-GB" sz="2000" b="1" i="1" dirty="0"/>
              <a:t>    Blood cell        </a:t>
            </a:r>
            <a:r>
              <a:rPr lang="en-GB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Heart</a:t>
            </a:r>
            <a:r>
              <a:rPr lang="en-GB" sz="2000" b="1" i="1" dirty="0"/>
              <a:t>         P. Artery        Capillary network        p. vein</a:t>
            </a:r>
            <a:endParaRPr lang="en-US" b="1" dirty="0"/>
          </a:p>
          <a:p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3276600" y="4038600"/>
            <a:ext cx="4877594" cy="611188"/>
            <a:chOff x="2667000" y="2133600"/>
            <a:chExt cx="4877594" cy="611188"/>
          </a:xfrm>
        </p:grpSpPr>
        <p:cxnSp>
          <p:nvCxnSpPr>
            <p:cNvPr id="9" name="Straight Arrow Connector 8"/>
            <p:cNvCxnSpPr/>
            <p:nvPr/>
          </p:nvCxnSpPr>
          <p:spPr>
            <a:xfrm rot="5400000" flipH="1" flipV="1">
              <a:off x="2362597" y="2438003"/>
              <a:ext cx="609600" cy="794"/>
            </a:xfrm>
            <a:prstGeom prst="straightConnector1">
              <a:avLst/>
            </a:prstGeom>
            <a:ln>
              <a:solidFill>
                <a:srgbClr val="00B0F0"/>
              </a:solidFill>
              <a:prstDash val="dash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667000" y="2743200"/>
              <a:ext cx="4876800" cy="158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7239000" y="2438400"/>
              <a:ext cx="609600" cy="158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/>
          <p:cNvCxnSpPr/>
          <p:nvPr/>
        </p:nvCxnSpPr>
        <p:spPr>
          <a:xfrm>
            <a:off x="25908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8862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1054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4676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Anatomy- Heart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5410200"/>
          </a:xfrm>
        </p:spPr>
        <p:txBody>
          <a:bodyPr>
            <a:noAutofit/>
          </a:bodyPr>
          <a:lstStyle/>
          <a:p>
            <a:r>
              <a:rPr lang="en-GB" sz="2400" dirty="0"/>
              <a:t>The heart provides the pressure needed to keep the blood flowing through the network of tubing.</a:t>
            </a:r>
          </a:p>
          <a:p>
            <a:r>
              <a:rPr lang="en-GB" sz="2400" dirty="0"/>
              <a:t>The heart is the engine of the circulatory system. </a:t>
            </a:r>
          </a:p>
          <a:p>
            <a:r>
              <a:rPr lang="en-GB" sz="2400" dirty="0"/>
              <a:t>It is divided into four chambers:</a:t>
            </a:r>
          </a:p>
          <a:p>
            <a:pPr>
              <a:buNone/>
            </a:pPr>
            <a:r>
              <a:rPr lang="en-GB" sz="2400" dirty="0"/>
              <a:t> </a:t>
            </a:r>
          </a:p>
          <a:p>
            <a:pPr lvl="1">
              <a:buNone/>
            </a:pPr>
            <a:r>
              <a:rPr lang="en-GB" sz="2400" dirty="0"/>
              <a:t>(1) the </a:t>
            </a:r>
            <a:r>
              <a:rPr lang="en-GB" sz="2400" b="1" dirty="0"/>
              <a:t>right atrium</a:t>
            </a:r>
            <a:r>
              <a:rPr lang="en-GB" sz="2400" dirty="0"/>
              <a:t>, </a:t>
            </a:r>
          </a:p>
          <a:p>
            <a:pPr lvl="1">
              <a:buNone/>
            </a:pPr>
            <a:r>
              <a:rPr lang="en-GB" sz="2400" dirty="0"/>
              <a:t>(2) the </a:t>
            </a:r>
            <a:r>
              <a:rPr lang="en-GB" sz="2400" b="1" dirty="0"/>
              <a:t>right ventricle</a:t>
            </a:r>
            <a:r>
              <a:rPr lang="en-GB" sz="2400" dirty="0"/>
              <a:t>, </a:t>
            </a:r>
          </a:p>
          <a:p>
            <a:pPr lvl="1">
              <a:buNone/>
            </a:pPr>
            <a:r>
              <a:rPr lang="en-GB" sz="2400" dirty="0"/>
              <a:t>(3) the </a:t>
            </a:r>
            <a:r>
              <a:rPr lang="en-GB" sz="2400" b="1" dirty="0"/>
              <a:t>left atrium</a:t>
            </a:r>
            <a:r>
              <a:rPr lang="en-GB" sz="2400" dirty="0"/>
              <a:t>, and</a:t>
            </a:r>
          </a:p>
          <a:p>
            <a:pPr lvl="1">
              <a:buNone/>
            </a:pPr>
            <a:r>
              <a:rPr lang="en-GB" sz="2400" dirty="0"/>
              <a:t> (4) the </a:t>
            </a:r>
            <a:r>
              <a:rPr lang="en-GB" sz="2400" b="1" dirty="0"/>
              <a:t>left ventricle</a:t>
            </a:r>
            <a:r>
              <a:rPr lang="en-GB" sz="2400" dirty="0"/>
              <a:t>.</a:t>
            </a:r>
          </a:p>
          <a:p>
            <a:pPr>
              <a:buNone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 descr="Heart_labelled_lar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91479"/>
            <a:ext cx="3962400" cy="397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800600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AU" sz="3600" b="1" dirty="0"/>
              <a:t>Structure:</a:t>
            </a:r>
          </a:p>
          <a:p>
            <a:r>
              <a:rPr lang="en-AU" dirty="0"/>
              <a:t>The two atria collect the blood. </a:t>
            </a:r>
          </a:p>
          <a:p>
            <a:r>
              <a:rPr lang="en-AU" dirty="0"/>
              <a:t>The two ventricles pump the blood out of the heart.</a:t>
            </a:r>
          </a:p>
          <a:p>
            <a:r>
              <a:rPr lang="en-AU" dirty="0"/>
              <a:t>Valves prevent the blood from flowing backwards.</a:t>
            </a:r>
          </a:p>
          <a:p>
            <a:r>
              <a:rPr lang="en-AU" dirty="0"/>
              <a:t>The septum separates the two sides of the heart.</a:t>
            </a:r>
          </a:p>
          <a:p>
            <a:r>
              <a:rPr lang="en-AU" dirty="0"/>
              <a:t>The right side of the heart pumps de-oxygenated blood to the lungs to pick up oxygen.</a:t>
            </a:r>
          </a:p>
          <a:p>
            <a:r>
              <a:rPr lang="en-AU" dirty="0"/>
              <a:t>The left side of the heart pumps the oxygenated blood from the lungs around the rest of the body.</a:t>
            </a:r>
          </a:p>
          <a:p>
            <a:endParaRPr lang="en-AU" dirty="0"/>
          </a:p>
        </p:txBody>
      </p:sp>
      <p:pic>
        <p:nvPicPr>
          <p:cNvPr id="3074" name="Picture 2" descr="http://www.barrygray.pwp.blueyonder.co.uk/Tutoring/Tutpix/heart/heartbase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6" r="25593"/>
          <a:stretch/>
        </p:blipFill>
        <p:spPr bwMode="auto">
          <a:xfrm>
            <a:off x="5105400" y="1676400"/>
            <a:ext cx="40386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715000" y="312420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Right atrium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6200" y="290578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Left atrium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080302"/>
            <a:ext cx="685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b="1" dirty="0"/>
              <a:t>Right ventricle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3962400"/>
            <a:ext cx="685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b="1" dirty="0"/>
              <a:t>Left ventricle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715000" y="3700462"/>
            <a:ext cx="914400" cy="16335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715000" y="3962400"/>
            <a:ext cx="6858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7086" y="5226705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Valves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6477000" y="4377898"/>
            <a:ext cx="990600" cy="20229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09986" y="6334780"/>
            <a:ext cx="89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Septum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0"/>
            <a:ext cx="77724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Anatomy- Heart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595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458200" cy="48006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The walls of these chambers are made of a special muscle called </a:t>
            </a:r>
            <a:r>
              <a:rPr lang="en-GB" sz="2400" b="1" i="1" dirty="0"/>
              <a:t>MYOCARDIUM</a:t>
            </a:r>
            <a:r>
              <a:rPr lang="en-GB" sz="2400" dirty="0"/>
              <a:t>, which contracts continuously and rhythmically to pump blood.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The pumping action of the heart occurs in two stages for each heartbeat: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dirty="0"/>
              <a:t>(1) </a:t>
            </a:r>
            <a:r>
              <a:rPr lang="en-GB" sz="2400" b="1" dirty="0"/>
              <a:t>DIASTOLE</a:t>
            </a:r>
            <a:r>
              <a:rPr lang="en-GB" sz="2400" dirty="0"/>
              <a:t>, when the heart is at rest; and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dirty="0"/>
              <a:t>(2) </a:t>
            </a:r>
            <a:r>
              <a:rPr lang="en-GB" sz="2400" b="1" dirty="0"/>
              <a:t>SYSTOLE</a:t>
            </a:r>
            <a:r>
              <a:rPr lang="en-GB" sz="2400" dirty="0"/>
              <a:t>, when the heart contracts to pump </a:t>
            </a:r>
            <a:r>
              <a:rPr lang="en-GB" sz="2400" u="sng" dirty="0"/>
              <a:t>deoxygenated </a:t>
            </a:r>
            <a:r>
              <a:rPr lang="en-GB" sz="2400" dirty="0"/>
              <a:t>blood toward the lungs and </a:t>
            </a:r>
            <a:r>
              <a:rPr lang="en-GB" sz="2400" u="sng" dirty="0"/>
              <a:t>oxygenated</a:t>
            </a:r>
            <a:r>
              <a:rPr lang="en-GB" sz="2400" dirty="0"/>
              <a:t> blood to the body.  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During each heartbeat, typically about 60 to 90 ml of blood are pumped out of the heart. If the heart stops pumping, death usually occurs within four to five minutes.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Anatomy- Heart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 r="60251"/>
          <a:stretch>
            <a:fillRect/>
          </a:stretch>
        </p:blipFill>
        <p:spPr bwMode="auto">
          <a:xfrm>
            <a:off x="5372042" y="685800"/>
            <a:ext cx="2857558" cy="268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 l="69442"/>
          <a:stretch>
            <a:fillRect/>
          </a:stretch>
        </p:blipFill>
        <p:spPr bwMode="auto">
          <a:xfrm>
            <a:off x="2212594" y="914400"/>
            <a:ext cx="2435606" cy="247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352800"/>
          <a:ext cx="7715251" cy="2209800"/>
        </p:xfrm>
        <a:graphic>
          <a:graphicData uri="http://schemas.openxmlformats.org/drawingml/2006/table">
            <a:tbl>
              <a:tblPr/>
              <a:tblGrid>
                <a:gridCol w="1757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0">
                <a:tc>
                  <a:txBody>
                    <a:bodyPr/>
                    <a:lstStyle/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Normal range:</a:t>
                      </a:r>
                    </a:p>
                  </a:txBody>
                  <a:tcPr marL="95250" marR="95250" marT="95250" marB="85725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Diastole</a:t>
                      </a:r>
                    </a:p>
                    <a:p>
                      <a:pPr algn="l" fontAlgn="t"/>
                      <a:endParaRPr lang="en-US" b="1" i="0" dirty="0">
                        <a:latin typeface="inherit"/>
                      </a:endParaRPr>
                    </a:p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60 – 80 mmHg (adults); </a:t>
                      </a:r>
                    </a:p>
                  </a:txBody>
                  <a:tcPr marL="95250" marR="95250" marT="95250" marB="857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Systole</a:t>
                      </a:r>
                    </a:p>
                    <a:p>
                      <a:pPr algn="l" fontAlgn="t"/>
                      <a:endParaRPr lang="en-US" b="1" i="0" dirty="0">
                        <a:latin typeface="inherit"/>
                      </a:endParaRPr>
                    </a:p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90 – 120 mmHg (adults);)</a:t>
                      </a:r>
                    </a:p>
                  </a:txBody>
                  <a:tcPr marL="95250" marR="95250" marT="95250" marB="857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0"/>
            <a:ext cx="3886200" cy="2640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sz="3600" b="1" dirty="0">
                <a:solidFill>
                  <a:srgbClr val="C00000"/>
                </a:solidFill>
              </a:rPr>
              <a:t>Arteries</a:t>
            </a:r>
          </a:p>
          <a:p>
            <a:pPr>
              <a:buNone/>
            </a:pPr>
            <a:endParaRPr lang="en-GB" sz="2800" b="1" dirty="0">
              <a:solidFill>
                <a:srgbClr val="C00000"/>
              </a:solidFill>
            </a:endParaRPr>
          </a:p>
          <a:p>
            <a:r>
              <a:rPr lang="en-GB" sz="2400" b="1" i="1" dirty="0"/>
              <a:t>Arteries</a:t>
            </a:r>
            <a:r>
              <a:rPr lang="en-GB" sz="2400" dirty="0"/>
              <a:t> are tubes that carry oxygenated blood away from the heart. </a:t>
            </a:r>
          </a:p>
          <a:p>
            <a:r>
              <a:rPr lang="en-GB" sz="2400" dirty="0"/>
              <a:t>Arteries carry blood under the highest pressure (around 16 </a:t>
            </a:r>
            <a:r>
              <a:rPr lang="en-GB" sz="2400" dirty="0" err="1"/>
              <a:t>kPa</a:t>
            </a:r>
            <a:r>
              <a:rPr lang="en-GB" sz="2400" dirty="0"/>
              <a:t>). </a:t>
            </a:r>
          </a:p>
          <a:p>
            <a:r>
              <a:rPr lang="en-GB" sz="2400" dirty="0"/>
              <a:t>The structure of an artery must be able to handle both high pressure and the changes in pressure that result from the rhythmic pumping of the heart. </a:t>
            </a:r>
          </a:p>
          <a:p>
            <a:r>
              <a:rPr lang="en-GB" sz="2400" dirty="0"/>
              <a:t>Therefore, arteries are </a:t>
            </a:r>
            <a:r>
              <a:rPr lang="en-GB" sz="2400" u="sng" dirty="0"/>
              <a:t>thick-walled</a:t>
            </a:r>
            <a:r>
              <a:rPr lang="en-GB" sz="2400" dirty="0"/>
              <a:t>, wrapped with </a:t>
            </a:r>
            <a:r>
              <a:rPr lang="en-GB" sz="2400" u="sng" dirty="0"/>
              <a:t>elastic muscle tissue</a:t>
            </a:r>
            <a:r>
              <a:rPr lang="en-GB" sz="2400" dirty="0"/>
              <a:t>. Small arteries are called </a:t>
            </a:r>
            <a:r>
              <a:rPr lang="en-GB" sz="2400" b="1" i="1" dirty="0">
                <a:solidFill>
                  <a:srgbClr val="FF0000"/>
                </a:solidFill>
              </a:rPr>
              <a:t>arterioles</a:t>
            </a:r>
            <a:r>
              <a:rPr lang="en-GB" sz="2400" dirty="0"/>
              <a:t>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Blood Vessels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0375" y="57150"/>
            <a:ext cx="23336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382000" cy="4953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sz="3500" b="1" dirty="0">
                <a:solidFill>
                  <a:srgbClr val="C00000"/>
                </a:solidFill>
              </a:rPr>
              <a:t>Veins</a:t>
            </a:r>
          </a:p>
          <a:p>
            <a:r>
              <a:rPr lang="en-GB" sz="2600" b="1" i="1" dirty="0"/>
              <a:t>Veins</a:t>
            </a:r>
            <a:r>
              <a:rPr lang="en-GB" sz="2600" dirty="0"/>
              <a:t> are tubes that return deoxygenated </a:t>
            </a:r>
          </a:p>
          <a:p>
            <a:pPr>
              <a:buNone/>
            </a:pPr>
            <a:r>
              <a:rPr lang="en-GB" sz="2600" dirty="0"/>
              <a:t>    blood to the heart.</a:t>
            </a:r>
          </a:p>
          <a:p>
            <a:r>
              <a:rPr lang="en-GB" sz="2600" dirty="0"/>
              <a:t>Veins provide a return system for blood under lower pressure that the blood in the arteries. </a:t>
            </a:r>
          </a:p>
          <a:p>
            <a:r>
              <a:rPr lang="en-GB" sz="2600" dirty="0"/>
              <a:t>Therefore, the walls of veins </a:t>
            </a:r>
            <a:r>
              <a:rPr lang="en-GB" sz="2600" u="sng" dirty="0"/>
              <a:t>do not </a:t>
            </a:r>
            <a:r>
              <a:rPr lang="en-GB" sz="2600" dirty="0"/>
              <a:t>need to be </a:t>
            </a:r>
            <a:r>
              <a:rPr lang="en-GB" sz="2600" u="sng" dirty="0"/>
              <a:t>as thick or elastic as those of arteries</a:t>
            </a:r>
            <a:r>
              <a:rPr lang="en-GB" sz="2600" dirty="0"/>
              <a:t>. </a:t>
            </a:r>
          </a:p>
          <a:p>
            <a:r>
              <a:rPr lang="en-GB" sz="2600" dirty="0"/>
              <a:t>The pressure of the blood coming out of the venous end of some capillaries often is not high enough to push the blood all the way back to the heart</a:t>
            </a:r>
          </a:p>
          <a:p>
            <a:r>
              <a:rPr lang="en-GB" sz="2600" dirty="0"/>
              <a:t>For this reason, some veins in the legs and arms have one-way </a:t>
            </a:r>
            <a:r>
              <a:rPr lang="en-GB" sz="2600" b="1" dirty="0"/>
              <a:t>valves</a:t>
            </a:r>
            <a:r>
              <a:rPr lang="en-GB" sz="2600" dirty="0"/>
              <a:t> to ensure that the blood travels only toward the heart. Small veins are called </a:t>
            </a:r>
            <a:r>
              <a:rPr lang="en-GB" sz="2600" b="1" i="1" dirty="0" err="1"/>
              <a:t>venules</a:t>
            </a:r>
            <a:r>
              <a:rPr lang="en-GB" sz="2600" dirty="0"/>
              <a:t>.</a:t>
            </a:r>
            <a:endParaRPr lang="en-US" sz="2600" dirty="0"/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Blood Vessels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0"/>
            <a:ext cx="83851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Arial" charset="0"/>
              </a:rPr>
              <a:t>Difference between Artery and Vein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120650" y="1828800"/>
          <a:ext cx="8915400" cy="458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2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Artery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Times New Roman"/>
                        </a:rPr>
                        <a:t>Vein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321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Carry oxygenated blood (except pulmonary artery).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Carry deoxygenated blood (except pulmonary vein)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629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Carry blood away from the heart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Carry blood to the heart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75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Thick and elastic muscular wall.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Thin and slightly muscular wall.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175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Blood under high pressure.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Blood under low pressure.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175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>
                          <a:latin typeface="Calibri"/>
                          <a:ea typeface="Calibri"/>
                          <a:cs typeface="Times New Roman"/>
                        </a:rPr>
                        <a:t>Contain no valve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Contain valve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721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Blood moves in pulses.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No pulses.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6252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>
                          <a:latin typeface="Calibri"/>
                          <a:ea typeface="Calibri"/>
                          <a:cs typeface="Times New Roman"/>
                        </a:rPr>
                        <a:t>Blood flows rapidly.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Blood flows smoothly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Blood Circulation in Heart: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344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2800" dirty="0"/>
              <a:t>Oxygenated blood from lungs to heart– Pulmonary vein</a:t>
            </a:r>
            <a:r>
              <a:rPr lang="en-US" sz="2800" dirty="0">
                <a:sym typeface="Wingdings" pitchFamily="2" charset="2"/>
              </a:rPr>
              <a:t> left Atrium  [diastole] Left Ventricle   [systole] Aorta (to body)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q"/>
            </a:pPr>
            <a:endParaRPr lang="en-US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2800" dirty="0">
                <a:sym typeface="Wingdings" pitchFamily="2" charset="2"/>
              </a:rPr>
              <a:t>Deoxygenated blood from body to heart – Superior and Inferior Vena cava Right Atrium [diastole] Right Ventricle [systole] Pulmonary Artery (to lungs)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305800" cy="297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C00000"/>
                </a:solidFill>
              </a:rPr>
              <a:t>Capillaries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GB" sz="2400" b="1" i="1" dirty="0"/>
              <a:t>Capillaries</a:t>
            </a:r>
            <a:r>
              <a:rPr lang="en-GB" sz="2400" dirty="0"/>
              <a:t> connect arteries and veins.</a:t>
            </a:r>
          </a:p>
          <a:p>
            <a:r>
              <a:rPr lang="en-GB" sz="2400" dirty="0"/>
              <a:t> They are a finely divided network of tiny tubes that exchange food, oxygen and wastes between blood and body cells. </a:t>
            </a:r>
          </a:p>
          <a:p>
            <a:r>
              <a:rPr lang="en-GB" sz="2400" dirty="0"/>
              <a:t>Capillaries leak nutrients from the bloodstream to all cells in the body. </a:t>
            </a:r>
          </a:p>
          <a:p>
            <a:r>
              <a:rPr lang="en-GB" sz="2400" dirty="0"/>
              <a:t>Cell wastes diffuse through the capillary back into the blood.</a:t>
            </a:r>
            <a:endParaRPr lang="en-US" sz="2400" dirty="0"/>
          </a:p>
          <a:p>
            <a:endParaRPr lang="en-US" sz="2800" dirty="0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981200" y="4495800"/>
            <a:ext cx="4724400" cy="2362200"/>
            <a:chOff x="3541712" y="2189817"/>
            <a:chExt cx="5541963" cy="2750483"/>
          </a:xfrm>
        </p:grpSpPr>
        <p:pic>
          <p:nvPicPr>
            <p:cNvPr id="5" name="Picture 4" descr="capillar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038600" y="2362200"/>
              <a:ext cx="4551363" cy="2578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541712" y="2915306"/>
              <a:ext cx="1479542" cy="5375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dirty="0" err="1"/>
                <a:t>arteriole</a:t>
              </a:r>
              <a:endParaRPr lang="fr-FR" sz="2400" dirty="0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848600" y="3058180"/>
              <a:ext cx="1235075" cy="5375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dirty="0" err="1"/>
                <a:t>venule</a:t>
              </a:r>
              <a:endParaRPr lang="fr-FR" sz="2400" dirty="0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5301471" y="2189817"/>
              <a:ext cx="1785129" cy="5375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dirty="0" err="1"/>
                <a:t>capillaries</a:t>
              </a:r>
              <a:endParaRPr lang="fr-FR" sz="2400" dirty="0"/>
            </a:p>
          </p:txBody>
        </p:sp>
      </p:grp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Blood Vessels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The Pathway of Blood Circulation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8768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Blood returning to the heart from the arms, head, abdomen, and legs has little oxygen left in it.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As a result, the pathway that the blood follows should put more oxygen into the blood and then direct the re-oxygenated blood back out to the body tissues. 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Systemic circulation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 is the movement of blood between the </a:t>
            </a:r>
            <a:r>
              <a:rPr lang="en-GB" sz="1800" u="sng" dirty="0">
                <a:latin typeface="Arial" pitchFamily="34" charset="0"/>
                <a:cs typeface="Arial" pitchFamily="34" charset="0"/>
              </a:rPr>
              <a:t>heart and the rest of the body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Pulmonary circulation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 is the movement of blood between the </a:t>
            </a:r>
            <a:r>
              <a:rPr lang="en-GB" sz="1800" u="sng" dirty="0">
                <a:latin typeface="Arial" pitchFamily="34" charset="0"/>
                <a:cs typeface="Arial" pitchFamily="34" charset="0"/>
              </a:rPr>
              <a:t>heart and lungs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 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Each of these circuits requires its own </a:t>
            </a:r>
            <a:r>
              <a:rPr lang="en-GB" sz="1800" b="1" dirty="0">
                <a:latin typeface="Arial" pitchFamily="34" charset="0"/>
                <a:cs typeface="Arial" pitchFamily="34" charset="0"/>
              </a:rPr>
              <a:t>pump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The pulmonary circuit uses the </a:t>
            </a:r>
            <a:r>
              <a:rPr lang="en-GB" sz="1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right half 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of the heart;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 the systemic circuit uses the </a:t>
            </a:r>
            <a:r>
              <a:rPr lang="en-GB" sz="1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left half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sz="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Systemic Circuit &amp; Pulmonary Circuit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2" descr="https://hangmytran.files.wordpress.com/2011/05/capture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000772"/>
            <a:ext cx="5334000" cy="585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75078"/>
            <a:ext cx="7467600" cy="5724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/>
          </a:bodyPr>
          <a:lstStyle/>
          <a:p>
            <a:pPr>
              <a:buClrTx/>
              <a:defRPr/>
            </a:pPr>
            <a:r>
              <a:rPr lang="en-US" sz="2400" b="1" u="sng" dirty="0"/>
              <a:t>Atherosclerosis/ Arteriosclerosis </a:t>
            </a:r>
            <a:endParaRPr lang="en-US" sz="2400" u="sng" dirty="0"/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dirty="0"/>
              <a:t>deposits inside arteries (plaques) </a:t>
            </a:r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sz="2400" dirty="0"/>
              <a:t>develop in inner wall of the arteries, narrowing their channel</a:t>
            </a:r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dirty="0"/>
              <a:t>increase blood pressure </a:t>
            </a:r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dirty="0"/>
              <a:t>increase risk of heart attack, stroke, kidney damage</a:t>
            </a:r>
          </a:p>
          <a:p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Disorders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037462"/>
            <a:ext cx="4724400" cy="282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"/>
          </p:nvPr>
        </p:nvSpPr>
        <p:spPr>
          <a:xfrm>
            <a:off x="609600" y="1676400"/>
            <a:ext cx="81534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en-US" sz="2400" b="1" u="sng" dirty="0">
                <a:solidFill>
                  <a:schemeClr val="tx1"/>
                </a:solidFill>
              </a:rPr>
              <a:t>Heart Attack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Acute myocardial infarction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Interruption of oxygen supply to the heart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Causes death of the heart muscle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Leading cause of death in both men and women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None/>
              <a:defRPr/>
            </a:pPr>
            <a:endParaRPr lang="en-US" sz="2800" b="1" u="sng" kern="0" dirty="0"/>
          </a:p>
          <a:p>
            <a:pPr>
              <a:spcBef>
                <a:spcPct val="20000"/>
              </a:spcBef>
              <a:buClr>
                <a:schemeClr val="hlink"/>
              </a:buClr>
              <a:buNone/>
              <a:defRPr/>
            </a:pPr>
            <a:r>
              <a:rPr lang="en-US" sz="2800" b="1" u="sng" kern="0" dirty="0"/>
              <a:t>Stroke</a:t>
            </a:r>
          </a:p>
          <a:p>
            <a:pPr marL="228600" lvl="1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Strokes usually result from rupture or blockage of arteries in the head</a:t>
            </a:r>
          </a:p>
          <a:p>
            <a:pPr marL="228600" lvl="1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Brain cells are starved of oxygen and nutrients</a:t>
            </a:r>
          </a:p>
          <a:p>
            <a:pPr marL="228600" lvl="1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Loss of function may occur</a:t>
            </a:r>
          </a:p>
          <a:p>
            <a:pPr marL="228600" lvl="1" indent="-228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Can cause paralysis, loss of ability to speak or death.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Disorders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arteries get blocked</a:t>
            </a:r>
          </a:p>
        </p:txBody>
      </p:sp>
      <p:pic>
        <p:nvPicPr>
          <p:cNvPr id="4" name="Picture 5" descr="11-29-2007 2-00-57 AM_00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600199"/>
            <a:ext cx="8385048" cy="5201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172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457200"/>
            <a:ext cx="8153400" cy="990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FF6600"/>
                </a:solidFill>
                <a:ea typeface="宋体" pitchFamily="2" charset="-122"/>
              </a:rPr>
              <a:t>How to avoid heart diseases</a:t>
            </a:r>
            <a:br>
              <a:rPr lang="en-US" altLang="zh-CN" sz="4000" b="1" dirty="0">
                <a:solidFill>
                  <a:srgbClr val="0000FF"/>
                </a:solidFill>
                <a:ea typeface="宋体" pitchFamily="2" charset="-122"/>
              </a:rPr>
            </a:b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5720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Cutting down on fried food. We can grill, boil or steam, rather than fry. If we do fry, we should use corn, soya or sunflower oils.</a:t>
            </a:r>
            <a:r>
              <a:rPr lang="en-US" altLang="zh-CN" sz="2600" b="1" dirty="0">
                <a:ea typeface="宋体" pitchFamily="2" charset="-122"/>
              </a:rPr>
              <a:t>  </a:t>
            </a:r>
            <a:endParaRPr lang="en-US" altLang="zh-CN" sz="2600" dirty="0">
              <a:ea typeface="宋体" pitchFamily="2" charset="-122"/>
            </a:endParaRP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less red meat. 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Cutting off any fat while eating anything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less dairy foods ( eggs, butter, milk and cream )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more poultry and fish, because they are less fatty.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more fresh fruit and vegetables.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No smoking.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Taking exercise regularly.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Taking time to relax before we go to bed.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28600"/>
            <a:ext cx="57912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latin typeface="Arial" charset="0"/>
              </a:rPr>
              <a:t>What is blood?</a:t>
            </a:r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2209800"/>
            <a:ext cx="8007350" cy="25146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768350" y="2438400"/>
            <a:ext cx="7696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z="2400" dirty="0">
                <a:latin typeface="Arial" charset="0"/>
              </a:rPr>
              <a:t>Blood is a specialized bodily fluid that consists of a </a:t>
            </a:r>
            <a:r>
              <a:rPr lang="en-US" sz="2400" u="sng" dirty="0">
                <a:latin typeface="Arial" charset="0"/>
              </a:rPr>
              <a:t>liquid matrix </a:t>
            </a:r>
            <a:r>
              <a:rPr lang="en-US" sz="2400" dirty="0">
                <a:latin typeface="Arial" charset="0"/>
              </a:rPr>
              <a:t>called </a:t>
            </a:r>
            <a:r>
              <a:rPr lang="en-US" sz="2400" b="1" dirty="0">
                <a:latin typeface="Arial" charset="0"/>
              </a:rPr>
              <a:t>plasma</a:t>
            </a:r>
            <a:r>
              <a:rPr lang="en-US" sz="2400" dirty="0">
                <a:latin typeface="Arial" charset="0"/>
              </a:rPr>
              <a:t> containing a number of </a:t>
            </a:r>
            <a:r>
              <a:rPr lang="en-US" sz="2400" b="1" dirty="0">
                <a:latin typeface="Arial" charset="0"/>
              </a:rPr>
              <a:t>cellular components </a:t>
            </a:r>
            <a:r>
              <a:rPr lang="en-US" sz="2400" dirty="0">
                <a:latin typeface="Arial" charset="0"/>
              </a:rPr>
              <a:t>and cell fragment.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defRPr/>
            </a:pPr>
            <a:endParaRPr lang="en-US" sz="2400" dirty="0"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z="2400" dirty="0">
                <a:latin typeface="Arial" charset="0"/>
              </a:rPr>
              <a:t>Blood cells produced in bone marrow from stem cells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en-US" sz="2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7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artificial-blood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57200"/>
            <a:ext cx="61722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0" y="2514600"/>
            <a:ext cx="2209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/>
              <a:t>Figure – </a:t>
            </a:r>
            <a:r>
              <a:rPr lang="en-US" altLang="en-US" sz="2000"/>
              <a:t>RBC, WBC and Platelets </a:t>
            </a:r>
            <a:endParaRPr lang="en-US" altLang="en-US" sz="2000" b="1"/>
          </a:p>
        </p:txBody>
      </p:sp>
    </p:spTree>
    <p:extLst>
      <p:ext uri="{BB962C8B-B14F-4D97-AF65-F5344CB8AC3E}">
        <p14:creationId xmlns:p14="http://schemas.microsoft.com/office/powerpoint/2010/main" val="2979257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of Blood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Blood performs many important functions within the body including: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Supply of oxygen to tissues (bound to hemoglobin which is carried in red cells)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Supply of nutrients such as glucose, amino acids and fatty acids (dissolved in the blood or bound to plasma proteins)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Removal of waste such as carbon dioxide, urea and lactic acid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Immunological functions, including circulation of white cells, and detection of foreign material by antibodies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en-US" sz="3200" dirty="0">
                <a:latin typeface="Times New Roman" charset="0"/>
              </a:rPr>
              <a:t>It maintains acid base balance, body temperature.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tx1"/>
              </a:buClr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Messenger functions, including the transport of hormones and the signaling of tissue damage.</a:t>
            </a:r>
            <a:r>
              <a:rPr lang="en-US" altLang="zh-CN" sz="3600" dirty="0">
                <a:solidFill>
                  <a:srgbClr val="000000"/>
                </a:solidFill>
                <a:ea typeface="宋体" pitchFamily="2" charset="-122"/>
              </a:rPr>
              <a:t> </a:t>
            </a:r>
            <a:endParaRPr lang="en-US" altLang="zh-CN" sz="3600" dirty="0">
              <a:latin typeface="Times New Roman" charset="0"/>
              <a:ea typeface="宋体" pitchFamily="2" charset="-122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131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Composition of Blood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788152" cy="464820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AU" dirty="0"/>
              <a:t>1. Plasma</a:t>
            </a:r>
          </a:p>
          <a:p>
            <a:pPr lvl="1"/>
            <a:r>
              <a:rPr lang="en-AU" dirty="0"/>
              <a:t>Fluid part of blood</a:t>
            </a:r>
          </a:p>
          <a:p>
            <a:pPr lvl="1"/>
            <a:r>
              <a:rPr lang="en-AU" dirty="0"/>
              <a:t>Carries carbon dioxide, hormones and waste</a:t>
            </a:r>
          </a:p>
          <a:p>
            <a:pPr marL="114300" indent="0">
              <a:buNone/>
            </a:pPr>
            <a:r>
              <a:rPr lang="en-AU" dirty="0"/>
              <a:t>2. Red blood cells</a:t>
            </a:r>
          </a:p>
          <a:p>
            <a:pPr lvl="1"/>
            <a:r>
              <a:rPr lang="en-AU" dirty="0"/>
              <a:t>Contain haemoglobin which carries oxygen</a:t>
            </a:r>
          </a:p>
          <a:p>
            <a:pPr marL="114300" indent="0">
              <a:buNone/>
            </a:pPr>
            <a:r>
              <a:rPr lang="en-AU" dirty="0"/>
              <a:t>3. White blood cells</a:t>
            </a:r>
          </a:p>
          <a:p>
            <a:pPr lvl="1"/>
            <a:r>
              <a:rPr lang="en-AU" dirty="0"/>
              <a:t>An important part of the immune system, they produce antibodies and destroy harmful microorganisms</a:t>
            </a:r>
          </a:p>
          <a:p>
            <a:pPr marL="114300" indent="0">
              <a:buNone/>
            </a:pPr>
            <a:r>
              <a:rPr lang="en-AU" dirty="0"/>
              <a:t>4. Platelets</a:t>
            </a:r>
          </a:p>
          <a:p>
            <a:pPr lvl="1"/>
            <a:r>
              <a:rPr lang="en-AU" dirty="0"/>
              <a:t>Clump together to form clots</a:t>
            </a:r>
          </a:p>
          <a:p>
            <a:pPr lvl="1"/>
            <a:r>
              <a:rPr lang="en-AU" dirty="0"/>
              <a:t>Protect the body by stopping bleeding</a:t>
            </a:r>
          </a:p>
        </p:txBody>
      </p:sp>
      <p:pic>
        <p:nvPicPr>
          <p:cNvPr id="8194" name="Picture 2" descr="http://www.fairview.org/fv/groups/public/documents/images/1769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27960"/>
            <a:ext cx="3048000" cy="268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8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8007350" cy="4800600"/>
          </a:xfrm>
        </p:spPr>
        <p:txBody>
          <a:bodyPr/>
          <a:lstStyle/>
          <a:p>
            <a:pPr>
              <a:defRPr/>
            </a:pPr>
            <a:r>
              <a:rPr lang="en-US" dirty="0"/>
              <a:t>They fall into two major categories: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1) The liquid component (plasma) and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2) The cellular component or formed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     elements (red cells, white cells, and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     platelets)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Blood Components</a:t>
            </a:r>
          </a:p>
        </p:txBody>
      </p:sp>
    </p:spTree>
    <p:extLst>
      <p:ext uri="{BB962C8B-B14F-4D97-AF65-F5344CB8AC3E}">
        <p14:creationId xmlns:p14="http://schemas.microsoft.com/office/powerpoint/2010/main" val="1534963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382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Blood Component: Plasma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81891" y="2286000"/>
            <a:ext cx="3761509" cy="24384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b="1" dirty="0">
                <a:effectLst/>
              </a:rPr>
              <a:t>If you centrifuge a blood sample, the </a:t>
            </a:r>
            <a:r>
              <a:rPr lang="en-US" altLang="en-US" sz="2400" dirty="0">
                <a:effectLst/>
              </a:rPr>
              <a:t>yellowish clear liquid will be found on the on the top, called plasma (55%)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Plasma composed of </a:t>
            </a:r>
            <a:r>
              <a:rPr lang="en-US" altLang="en-US" sz="2400" u="sng" dirty="0">
                <a:effectLst/>
              </a:rPr>
              <a:t>water</a:t>
            </a:r>
            <a:r>
              <a:rPr lang="en-US" altLang="en-US" sz="2400" dirty="0">
                <a:effectLst/>
              </a:rPr>
              <a:t> (90%), </a:t>
            </a:r>
            <a:r>
              <a:rPr lang="en-US" altLang="en-US" sz="2400" u="sng" dirty="0">
                <a:effectLst/>
              </a:rPr>
              <a:t>proteins</a:t>
            </a:r>
            <a:r>
              <a:rPr lang="en-US" altLang="en-US" sz="2400" dirty="0">
                <a:effectLst/>
              </a:rPr>
              <a:t> (~10%) and other </a:t>
            </a:r>
            <a:r>
              <a:rPr lang="en-US" altLang="en-US" sz="2400" u="sng" dirty="0">
                <a:effectLst/>
              </a:rPr>
              <a:t>solutes</a:t>
            </a:r>
            <a:r>
              <a:rPr lang="en-US" altLang="en-US" sz="2400" dirty="0">
                <a:effectLst/>
              </a:rPr>
              <a:t>. </a:t>
            </a:r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04" y="2320636"/>
            <a:ext cx="4092287" cy="385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4989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26473" y="3048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 </a:t>
            </a:r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26473" y="1676400"/>
            <a:ext cx="8312150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The largest group of solutes in plasma consists of plasma proteins, which serve a variety of functions.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Important plasma proteins include </a:t>
            </a:r>
            <a:r>
              <a:rPr lang="en-US" altLang="en-US" sz="2400" u="sng" dirty="0">
                <a:effectLst/>
              </a:rPr>
              <a:t>albumins, globulins, and clotting proteins</a:t>
            </a:r>
            <a:r>
              <a:rPr lang="en-US" altLang="en-US" sz="2400" dirty="0">
                <a:effectLst/>
              </a:rPr>
              <a:t>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u="sng" dirty="0">
                <a:effectLst/>
              </a:rPr>
              <a:t>Albumins: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2/3 of total protein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Maintain the proper water balance between blood and the interstitial fluid.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Manufactured in the liver.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Albumins also bind to certain molecules (such as bilirubin and fatty acids) and drugs (such as penicillin) and assist in their transport in blood. </a:t>
            </a:r>
          </a:p>
          <a:p>
            <a:pPr>
              <a:lnSpc>
                <a:spcPct val="80000"/>
              </a:lnSpc>
            </a:pPr>
            <a:endParaRPr lang="en-US" altLang="en-US" sz="2400" dirty="0">
              <a:effectLst/>
            </a:endParaRPr>
          </a:p>
          <a:p>
            <a:pPr eaLnBrk="1" hangingPunct="1"/>
            <a:endParaRPr lang="en-US" alt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04437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2286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752600"/>
            <a:ext cx="8312150" cy="4800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u="sng" dirty="0">
                <a:effectLst/>
              </a:rPr>
              <a:t>Globulins: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Globulins (designated alpha, beta, and gamma) </a:t>
            </a:r>
            <a:r>
              <a:rPr lang="en-US" altLang="en-US" sz="2400" u="sng" dirty="0">
                <a:effectLst/>
              </a:rPr>
              <a:t>transport various substances </a:t>
            </a:r>
            <a:r>
              <a:rPr lang="en-US" altLang="en-US" sz="2400" dirty="0">
                <a:effectLst/>
              </a:rPr>
              <a:t>in the blood.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Many beta globulins bind to lipid (fat) molecules, such as cholesterol. When a protein attaches to one of these molecules, it creates a complex called a lipoprotein.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Two medically important lipoproteins are the low-density lipoproteins (LDLs) and high-density lipoproteins (HDLs).</a:t>
            </a:r>
          </a:p>
        </p:txBody>
      </p:sp>
    </p:spTree>
    <p:extLst>
      <p:ext uri="{BB962C8B-B14F-4D97-AF65-F5344CB8AC3E}">
        <p14:creationId xmlns:p14="http://schemas.microsoft.com/office/powerpoint/2010/main" val="1772551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</a:t>
            </a: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2209800"/>
            <a:ext cx="831215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u="sng" dirty="0">
                <a:effectLst/>
              </a:rPr>
              <a:t>Globulins: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b="1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effectLst/>
              </a:rPr>
              <a:t>The LDLs are sometimes called “bad cholesterol,” because high blood levels of these lipoproteins are associated with increased risk of cardiovascular health problems.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 eaLnBrk="1" hangingPunct="1"/>
            <a:r>
              <a:rPr lang="en-US" altLang="en-US" sz="2400" dirty="0">
                <a:effectLst/>
              </a:rPr>
              <a:t>High levels of HDLs often indicate a lower risk of cardiovascular disease.</a:t>
            </a:r>
          </a:p>
        </p:txBody>
      </p:sp>
    </p:spTree>
    <p:extLst>
      <p:ext uri="{BB962C8B-B14F-4D97-AF65-F5344CB8AC3E}">
        <p14:creationId xmlns:p14="http://schemas.microsoft.com/office/powerpoint/2010/main" val="434542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81891" y="1524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09600" y="1600200"/>
            <a:ext cx="8312150" cy="5791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u="sng" dirty="0">
                <a:effectLst/>
              </a:rPr>
              <a:t>Clotting proteins: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b="1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effectLst/>
              </a:rPr>
              <a:t>Clotting proteins, a third group of plasma proteins, play an important role in the process of blood clotting. blood clotting minimizes blood loss and helps maintain homeostasis after injury.</a:t>
            </a:r>
          </a:p>
          <a:p>
            <a:pPr>
              <a:lnSpc>
                <a:spcPct val="80000"/>
              </a:lnSpc>
            </a:pPr>
            <a:endParaRPr lang="en-US" altLang="en-US" sz="2400" b="1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Plasma also contains other substrate;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Electrolytes - Na</a:t>
            </a:r>
            <a:r>
              <a:rPr lang="en-US" altLang="en-US" sz="2400" baseline="30000" dirty="0">
                <a:effectLst/>
              </a:rPr>
              <a:t>+</a:t>
            </a:r>
            <a:r>
              <a:rPr lang="en-US" altLang="en-US" sz="2400" dirty="0">
                <a:effectLst/>
              </a:rPr>
              <a:t>, K</a:t>
            </a:r>
            <a:r>
              <a:rPr lang="en-US" altLang="en-US" sz="2400" baseline="30000" dirty="0">
                <a:effectLst/>
              </a:rPr>
              <a:t>+</a:t>
            </a:r>
            <a:r>
              <a:rPr lang="en-US" altLang="en-US" sz="2400" dirty="0">
                <a:effectLst/>
              </a:rPr>
              <a:t>, Ca</a:t>
            </a:r>
            <a:r>
              <a:rPr lang="en-US" altLang="en-US" sz="2400" baseline="30000" dirty="0">
                <a:effectLst/>
              </a:rPr>
              <a:t>++</a:t>
            </a:r>
            <a:r>
              <a:rPr lang="en-US" altLang="en-US" sz="2400" dirty="0">
                <a:effectLst/>
              </a:rPr>
              <a:t>, Mg</a:t>
            </a:r>
            <a:r>
              <a:rPr lang="en-US" altLang="en-US" sz="2400" baseline="30000" dirty="0">
                <a:effectLst/>
              </a:rPr>
              <a:t>++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Nutrients - glucose, amino acids, fatty acids,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             </a:t>
            </a:r>
            <a:r>
              <a:rPr lang="en-US" altLang="en-US" sz="2400" dirty="0" err="1">
                <a:effectLst/>
              </a:rPr>
              <a:t>monoglycerides</a:t>
            </a: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Gases - O</a:t>
            </a:r>
            <a:r>
              <a:rPr lang="en-US" altLang="en-US" sz="2400" baseline="-25000" dirty="0">
                <a:effectLst/>
              </a:rPr>
              <a:t>2</a:t>
            </a:r>
            <a:r>
              <a:rPr lang="en-US" altLang="en-US" sz="2400" dirty="0">
                <a:effectLst/>
              </a:rPr>
              <a:t>, N</a:t>
            </a:r>
            <a:r>
              <a:rPr lang="en-US" altLang="en-US" sz="2400" baseline="-25000" dirty="0">
                <a:effectLst/>
              </a:rPr>
              <a:t>2</a:t>
            </a:r>
            <a:r>
              <a:rPr lang="en-US" altLang="en-US" sz="2400" dirty="0">
                <a:effectLst/>
              </a:rPr>
              <a:t>, CO</a:t>
            </a:r>
            <a:r>
              <a:rPr lang="en-US" altLang="en-US" sz="2400" baseline="-25000" dirty="0">
                <a:effectLst/>
              </a:rPr>
              <a:t>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aseline="-25000" dirty="0">
                <a:effectLst/>
              </a:rPr>
              <a:t>             </a:t>
            </a:r>
            <a:r>
              <a:rPr lang="en-US" altLang="en-US" sz="2400" dirty="0">
                <a:effectLst/>
              </a:rPr>
              <a:t>Regulatory substance - hormones, enzymes, Vitamins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             		    Wastes</a:t>
            </a:r>
          </a:p>
        </p:txBody>
      </p:sp>
    </p:spTree>
    <p:extLst>
      <p:ext uri="{BB962C8B-B14F-4D97-AF65-F5344CB8AC3E}">
        <p14:creationId xmlns:p14="http://schemas.microsoft.com/office/powerpoint/2010/main" val="769296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99147"/>
            <a:ext cx="9144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Blood Components: Formed elements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98764" y="1828800"/>
            <a:ext cx="4419600" cy="4572000"/>
          </a:xfrm>
        </p:spPr>
        <p:txBody>
          <a:bodyPr>
            <a:normAutofit fontScale="92500" lnSpcReduction="10000"/>
          </a:bodyPr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600" dirty="0">
                <a:effectLst/>
              </a:rPr>
              <a:t>There are mainly 3 types of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600" dirty="0">
                <a:effectLst/>
              </a:rPr>
              <a:t>blood cells;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600" dirty="0">
              <a:effectLst/>
            </a:endParaRPr>
          </a:p>
          <a:p>
            <a:pPr marL="609600" indent="-609600" eaLnBrk="1" hangingPunct="1"/>
            <a:r>
              <a:rPr lang="en-US" altLang="en-US" sz="2600" dirty="0">
                <a:effectLst/>
              </a:rPr>
              <a:t>Red blood cells or erythrocytes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600" dirty="0">
              <a:effectLst/>
            </a:endParaRPr>
          </a:p>
          <a:p>
            <a:pPr marL="609600" indent="-609600" eaLnBrk="1" hangingPunct="1"/>
            <a:r>
              <a:rPr lang="en-US" altLang="en-US" sz="2600" dirty="0">
                <a:effectLst/>
              </a:rPr>
              <a:t>White blood cells or leukocytes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600" dirty="0">
              <a:effectLst/>
            </a:endParaRPr>
          </a:p>
          <a:p>
            <a:pPr marL="609600" indent="-609600" eaLnBrk="1" hangingPunct="1"/>
            <a:r>
              <a:rPr lang="en-US" altLang="en-US" sz="2600" dirty="0">
                <a:effectLst/>
              </a:rPr>
              <a:t>Platelet or thrombocytes  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600" dirty="0">
                <a:effectLst/>
              </a:rPr>
              <a:t>                     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2057400"/>
            <a:ext cx="4357687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8933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Formed elements</a:t>
            </a:r>
            <a:br>
              <a:rPr lang="en-US"/>
            </a:br>
            <a:endParaRPr lang="en-US"/>
          </a:p>
        </p:txBody>
      </p:sp>
      <p:sp>
        <p:nvSpPr>
          <p:cNvPr id="13315" name="Line 7"/>
          <p:cNvSpPr>
            <a:spLocks noChangeShapeType="1"/>
          </p:cNvSpPr>
          <p:nvPr/>
        </p:nvSpPr>
        <p:spPr bwMode="auto">
          <a:xfrm>
            <a:off x="2198688" y="2797175"/>
            <a:ext cx="1587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Line 8"/>
          <p:cNvSpPr>
            <a:spLocks noChangeShapeType="1"/>
          </p:cNvSpPr>
          <p:nvPr/>
        </p:nvSpPr>
        <p:spPr bwMode="auto">
          <a:xfrm>
            <a:off x="4724400" y="2797175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Line 9"/>
          <p:cNvSpPr>
            <a:spLocks noChangeShapeType="1"/>
          </p:cNvSpPr>
          <p:nvPr/>
        </p:nvSpPr>
        <p:spPr bwMode="auto">
          <a:xfrm>
            <a:off x="7248525" y="2797175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Line 10"/>
          <p:cNvSpPr>
            <a:spLocks noChangeShapeType="1"/>
          </p:cNvSpPr>
          <p:nvPr/>
        </p:nvSpPr>
        <p:spPr bwMode="auto">
          <a:xfrm>
            <a:off x="2198688" y="2797175"/>
            <a:ext cx="2525712" cy="158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11"/>
          <p:cNvSpPr>
            <a:spLocks noChangeShapeType="1"/>
          </p:cNvSpPr>
          <p:nvPr/>
        </p:nvSpPr>
        <p:spPr bwMode="auto">
          <a:xfrm>
            <a:off x="4724400" y="2797175"/>
            <a:ext cx="2524125" cy="158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Rectangle 12"/>
          <p:cNvSpPr>
            <a:spLocks noChangeArrowheads="1"/>
          </p:cNvSpPr>
          <p:nvPr/>
        </p:nvSpPr>
        <p:spPr bwMode="auto">
          <a:xfrm>
            <a:off x="1000125" y="2919413"/>
            <a:ext cx="2397125" cy="846137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21" name="Rectangle 16"/>
          <p:cNvSpPr>
            <a:spLocks noChangeArrowheads="1"/>
          </p:cNvSpPr>
          <p:nvPr/>
        </p:nvSpPr>
        <p:spPr bwMode="auto">
          <a:xfrm>
            <a:off x="1000125" y="2919413"/>
            <a:ext cx="2397125" cy="846137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22" name="Line 17"/>
          <p:cNvSpPr>
            <a:spLocks noChangeShapeType="1"/>
          </p:cNvSpPr>
          <p:nvPr/>
        </p:nvSpPr>
        <p:spPr bwMode="auto">
          <a:xfrm>
            <a:off x="4724400" y="3765550"/>
            <a:ext cx="1588" cy="122238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Line 18"/>
          <p:cNvSpPr>
            <a:spLocks noChangeShapeType="1"/>
          </p:cNvSpPr>
          <p:nvPr/>
        </p:nvSpPr>
        <p:spPr bwMode="auto">
          <a:xfrm>
            <a:off x="3535363" y="3887788"/>
            <a:ext cx="1587" cy="12223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9"/>
          <p:cNvSpPr>
            <a:spLocks noChangeShapeType="1"/>
          </p:cNvSpPr>
          <p:nvPr/>
        </p:nvSpPr>
        <p:spPr bwMode="auto">
          <a:xfrm>
            <a:off x="6454775" y="3887788"/>
            <a:ext cx="1588" cy="12223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20"/>
          <p:cNvSpPr>
            <a:spLocks noChangeShapeType="1"/>
          </p:cNvSpPr>
          <p:nvPr/>
        </p:nvSpPr>
        <p:spPr bwMode="auto">
          <a:xfrm>
            <a:off x="3535363" y="3887788"/>
            <a:ext cx="1189037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Line 21"/>
          <p:cNvSpPr>
            <a:spLocks noChangeShapeType="1"/>
          </p:cNvSpPr>
          <p:nvPr/>
        </p:nvSpPr>
        <p:spPr bwMode="auto">
          <a:xfrm>
            <a:off x="4724400" y="3887788"/>
            <a:ext cx="1730375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Line 22"/>
          <p:cNvSpPr>
            <a:spLocks noChangeShapeType="1"/>
          </p:cNvSpPr>
          <p:nvPr/>
        </p:nvSpPr>
        <p:spPr bwMode="auto">
          <a:xfrm>
            <a:off x="3054350" y="4887913"/>
            <a:ext cx="1588" cy="122237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Line 23"/>
          <p:cNvSpPr>
            <a:spLocks noChangeShapeType="1"/>
          </p:cNvSpPr>
          <p:nvPr/>
        </p:nvSpPr>
        <p:spPr bwMode="auto">
          <a:xfrm>
            <a:off x="1889125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Rectangle 28"/>
          <p:cNvSpPr>
            <a:spLocks noChangeArrowheads="1"/>
          </p:cNvSpPr>
          <p:nvPr/>
        </p:nvSpPr>
        <p:spPr bwMode="auto">
          <a:xfrm>
            <a:off x="1143000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0" name="Rectangle 29"/>
          <p:cNvSpPr>
            <a:spLocks noChangeArrowheads="1"/>
          </p:cNvSpPr>
          <p:nvPr/>
        </p:nvSpPr>
        <p:spPr bwMode="auto">
          <a:xfrm>
            <a:off x="1295400" y="5181600"/>
            <a:ext cx="1074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NEUTROPHILS</a:t>
            </a:r>
          </a:p>
        </p:txBody>
      </p:sp>
      <p:sp>
        <p:nvSpPr>
          <p:cNvPr id="13331" name="Rectangle 37"/>
          <p:cNvSpPr>
            <a:spLocks noChangeArrowheads="1"/>
          </p:cNvSpPr>
          <p:nvPr/>
        </p:nvSpPr>
        <p:spPr bwMode="auto">
          <a:xfrm>
            <a:off x="1447800" y="4010025"/>
            <a:ext cx="3227388" cy="714375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2" name="Rectangle 40"/>
          <p:cNvSpPr>
            <a:spLocks noChangeArrowheads="1"/>
          </p:cNvSpPr>
          <p:nvPr/>
        </p:nvSpPr>
        <p:spPr bwMode="auto">
          <a:xfrm>
            <a:off x="1447800" y="4010025"/>
            <a:ext cx="3227388" cy="714375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3" name="Rectangle 52"/>
          <p:cNvSpPr>
            <a:spLocks noChangeArrowheads="1"/>
          </p:cNvSpPr>
          <p:nvPr/>
        </p:nvSpPr>
        <p:spPr bwMode="auto">
          <a:xfrm>
            <a:off x="5319713" y="4010025"/>
            <a:ext cx="2274887" cy="55245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4" name="Rectangle 55"/>
          <p:cNvSpPr>
            <a:spLocks noChangeArrowheads="1"/>
          </p:cNvSpPr>
          <p:nvPr/>
        </p:nvSpPr>
        <p:spPr bwMode="auto">
          <a:xfrm>
            <a:off x="5319713" y="4010025"/>
            <a:ext cx="2274887" cy="55245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5" name="Rectangle 56"/>
          <p:cNvSpPr>
            <a:spLocks noChangeArrowheads="1"/>
          </p:cNvSpPr>
          <p:nvPr/>
        </p:nvSpPr>
        <p:spPr bwMode="auto">
          <a:xfrm>
            <a:off x="3525838" y="2919413"/>
            <a:ext cx="2395537" cy="846137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6" name="Rectangle 59"/>
          <p:cNvSpPr>
            <a:spLocks noChangeArrowheads="1"/>
          </p:cNvSpPr>
          <p:nvPr/>
        </p:nvSpPr>
        <p:spPr bwMode="auto">
          <a:xfrm>
            <a:off x="3525838" y="2919413"/>
            <a:ext cx="2395537" cy="846137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7" name="Rectangle 60"/>
          <p:cNvSpPr>
            <a:spLocks noChangeArrowheads="1"/>
          </p:cNvSpPr>
          <p:nvPr/>
        </p:nvSpPr>
        <p:spPr bwMode="auto">
          <a:xfrm>
            <a:off x="6049963" y="2919413"/>
            <a:ext cx="2397125" cy="846137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8" name="Rectangle 63"/>
          <p:cNvSpPr>
            <a:spLocks noChangeArrowheads="1"/>
          </p:cNvSpPr>
          <p:nvPr/>
        </p:nvSpPr>
        <p:spPr bwMode="auto">
          <a:xfrm>
            <a:off x="6049963" y="2919413"/>
            <a:ext cx="2397125" cy="846137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9" name="Text Box 64"/>
          <p:cNvSpPr txBox="1">
            <a:spLocks noChangeArrowheads="1"/>
          </p:cNvSpPr>
          <p:nvPr/>
        </p:nvSpPr>
        <p:spPr bwMode="auto">
          <a:xfrm>
            <a:off x="1066800" y="2895600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Red Blood Cells</a:t>
            </a:r>
          </a:p>
        </p:txBody>
      </p:sp>
      <p:sp>
        <p:nvSpPr>
          <p:cNvPr id="13340" name="Text Box 65"/>
          <p:cNvSpPr txBox="1">
            <a:spLocks noChangeArrowheads="1"/>
          </p:cNvSpPr>
          <p:nvPr/>
        </p:nvSpPr>
        <p:spPr bwMode="auto">
          <a:xfrm>
            <a:off x="3581400" y="2895600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White Blood Cells</a:t>
            </a:r>
          </a:p>
        </p:txBody>
      </p:sp>
      <p:sp>
        <p:nvSpPr>
          <p:cNvPr id="13341" name="Text Box 66"/>
          <p:cNvSpPr txBox="1">
            <a:spLocks noChangeArrowheads="1"/>
          </p:cNvSpPr>
          <p:nvPr/>
        </p:nvSpPr>
        <p:spPr bwMode="auto">
          <a:xfrm>
            <a:off x="6096000" y="28956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Platelets</a:t>
            </a:r>
          </a:p>
        </p:txBody>
      </p:sp>
      <p:sp>
        <p:nvSpPr>
          <p:cNvPr id="13342" name="Text Box 67"/>
          <p:cNvSpPr txBox="1">
            <a:spLocks noChangeArrowheads="1"/>
          </p:cNvSpPr>
          <p:nvPr/>
        </p:nvSpPr>
        <p:spPr bwMode="auto">
          <a:xfrm>
            <a:off x="1447800" y="4114800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Granulocytes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Polymorphonucleated</a:t>
            </a:r>
          </a:p>
        </p:txBody>
      </p:sp>
      <p:sp>
        <p:nvSpPr>
          <p:cNvPr id="13343" name="Line 70"/>
          <p:cNvSpPr>
            <a:spLocks noChangeShapeType="1"/>
          </p:cNvSpPr>
          <p:nvPr/>
        </p:nvSpPr>
        <p:spPr bwMode="auto">
          <a:xfrm>
            <a:off x="7040563" y="4684713"/>
            <a:ext cx="1166812" cy="1587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4" name="Rectangle 71"/>
          <p:cNvSpPr>
            <a:spLocks noChangeArrowheads="1"/>
          </p:cNvSpPr>
          <p:nvPr/>
        </p:nvSpPr>
        <p:spPr bwMode="auto">
          <a:xfrm>
            <a:off x="4953000" y="4010025"/>
            <a:ext cx="3227388" cy="714375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45" name="Rectangle 72"/>
          <p:cNvSpPr>
            <a:spLocks noChangeArrowheads="1"/>
          </p:cNvSpPr>
          <p:nvPr/>
        </p:nvSpPr>
        <p:spPr bwMode="auto">
          <a:xfrm>
            <a:off x="4953000" y="4010025"/>
            <a:ext cx="3227388" cy="714375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46" name="Line 75"/>
          <p:cNvSpPr>
            <a:spLocks noChangeShapeType="1"/>
          </p:cNvSpPr>
          <p:nvPr/>
        </p:nvSpPr>
        <p:spPr bwMode="auto">
          <a:xfrm>
            <a:off x="31242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7" name="Line 76"/>
          <p:cNvSpPr>
            <a:spLocks noChangeShapeType="1"/>
          </p:cNvSpPr>
          <p:nvPr/>
        </p:nvSpPr>
        <p:spPr bwMode="auto">
          <a:xfrm>
            <a:off x="1905000" y="4953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8" name="Line 77"/>
          <p:cNvSpPr>
            <a:spLocks noChangeShapeType="1"/>
          </p:cNvSpPr>
          <p:nvPr/>
        </p:nvSpPr>
        <p:spPr bwMode="auto">
          <a:xfrm>
            <a:off x="19050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9" name="Line 78"/>
          <p:cNvSpPr>
            <a:spLocks noChangeShapeType="1"/>
          </p:cNvSpPr>
          <p:nvPr/>
        </p:nvSpPr>
        <p:spPr bwMode="auto">
          <a:xfrm>
            <a:off x="44958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0" name="Line 83"/>
          <p:cNvSpPr>
            <a:spLocks noChangeShapeType="1"/>
          </p:cNvSpPr>
          <p:nvPr/>
        </p:nvSpPr>
        <p:spPr bwMode="auto">
          <a:xfrm>
            <a:off x="323215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1" name="Rectangle 84"/>
          <p:cNvSpPr>
            <a:spLocks noChangeArrowheads="1"/>
          </p:cNvSpPr>
          <p:nvPr/>
        </p:nvSpPr>
        <p:spPr bwMode="auto">
          <a:xfrm>
            <a:off x="248602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52" name="Rectangle 85"/>
          <p:cNvSpPr>
            <a:spLocks noChangeArrowheads="1"/>
          </p:cNvSpPr>
          <p:nvPr/>
        </p:nvSpPr>
        <p:spPr bwMode="auto">
          <a:xfrm>
            <a:off x="2609850" y="5181600"/>
            <a:ext cx="1035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EOSINOPHILS</a:t>
            </a:r>
          </a:p>
        </p:txBody>
      </p:sp>
      <p:sp>
        <p:nvSpPr>
          <p:cNvPr id="13353" name="Line 88"/>
          <p:cNvSpPr>
            <a:spLocks noChangeShapeType="1"/>
          </p:cNvSpPr>
          <p:nvPr/>
        </p:nvSpPr>
        <p:spPr bwMode="auto">
          <a:xfrm>
            <a:off x="458470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4" name="Rectangle 89"/>
          <p:cNvSpPr>
            <a:spLocks noChangeArrowheads="1"/>
          </p:cNvSpPr>
          <p:nvPr/>
        </p:nvSpPr>
        <p:spPr bwMode="auto">
          <a:xfrm>
            <a:off x="383857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55" name="Rectangle 90"/>
          <p:cNvSpPr>
            <a:spLocks noChangeArrowheads="1"/>
          </p:cNvSpPr>
          <p:nvPr/>
        </p:nvSpPr>
        <p:spPr bwMode="auto">
          <a:xfrm>
            <a:off x="4025900" y="5181600"/>
            <a:ext cx="887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BASOPHILS</a:t>
            </a:r>
          </a:p>
        </p:txBody>
      </p:sp>
      <p:grpSp>
        <p:nvGrpSpPr>
          <p:cNvPr id="13356" name="Group 64"/>
          <p:cNvGrpSpPr>
            <a:grpSpLocks/>
          </p:cNvGrpSpPr>
          <p:nvPr/>
        </p:nvGrpSpPr>
        <p:grpSpPr bwMode="auto">
          <a:xfrm>
            <a:off x="1143000" y="5105400"/>
            <a:ext cx="3962400" cy="381000"/>
            <a:chOff x="1143000" y="5105400"/>
            <a:chExt cx="3962400" cy="381000"/>
          </a:xfrm>
        </p:grpSpPr>
        <p:sp>
          <p:nvSpPr>
            <p:cNvPr id="13370" name="Rectangle 30"/>
            <p:cNvSpPr>
              <a:spLocks noChangeArrowheads="1"/>
            </p:cNvSpPr>
            <p:nvPr/>
          </p:nvSpPr>
          <p:spPr bwMode="auto">
            <a:xfrm>
              <a:off x="1143000" y="5105400"/>
              <a:ext cx="1266825" cy="381000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371" name="Rectangle 86"/>
            <p:cNvSpPr>
              <a:spLocks noChangeArrowheads="1"/>
            </p:cNvSpPr>
            <p:nvPr/>
          </p:nvSpPr>
          <p:spPr bwMode="auto">
            <a:xfrm>
              <a:off x="2486025" y="5105400"/>
              <a:ext cx="1266825" cy="381000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372" name="Rectangle 91"/>
            <p:cNvSpPr>
              <a:spLocks noChangeArrowheads="1"/>
            </p:cNvSpPr>
            <p:nvPr/>
          </p:nvSpPr>
          <p:spPr bwMode="auto">
            <a:xfrm>
              <a:off x="3838575" y="5105400"/>
              <a:ext cx="1266825" cy="381000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3357" name="Line 92"/>
          <p:cNvSpPr>
            <a:spLocks noChangeShapeType="1"/>
          </p:cNvSpPr>
          <p:nvPr/>
        </p:nvSpPr>
        <p:spPr bwMode="auto">
          <a:xfrm>
            <a:off x="612775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8" name="Rectangle 93"/>
          <p:cNvSpPr>
            <a:spLocks noChangeArrowheads="1"/>
          </p:cNvSpPr>
          <p:nvPr/>
        </p:nvSpPr>
        <p:spPr bwMode="auto">
          <a:xfrm>
            <a:off x="538162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59" name="Rectangle 94"/>
          <p:cNvSpPr>
            <a:spLocks noChangeArrowheads="1"/>
          </p:cNvSpPr>
          <p:nvPr/>
        </p:nvSpPr>
        <p:spPr bwMode="auto">
          <a:xfrm>
            <a:off x="5505450" y="5181600"/>
            <a:ext cx="9699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MONOCYTES</a:t>
            </a:r>
          </a:p>
        </p:txBody>
      </p:sp>
      <p:sp>
        <p:nvSpPr>
          <p:cNvPr id="13360" name="Rectangle 95"/>
          <p:cNvSpPr>
            <a:spLocks noChangeArrowheads="1"/>
          </p:cNvSpPr>
          <p:nvPr/>
        </p:nvSpPr>
        <p:spPr bwMode="auto">
          <a:xfrm>
            <a:off x="5381625" y="5105400"/>
            <a:ext cx="1266825" cy="38100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61" name="Line 96"/>
          <p:cNvSpPr>
            <a:spLocks noChangeShapeType="1"/>
          </p:cNvSpPr>
          <p:nvPr/>
        </p:nvSpPr>
        <p:spPr bwMode="auto">
          <a:xfrm>
            <a:off x="748030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2" name="Rectangle 97"/>
          <p:cNvSpPr>
            <a:spLocks noChangeArrowheads="1"/>
          </p:cNvSpPr>
          <p:nvPr/>
        </p:nvSpPr>
        <p:spPr bwMode="auto">
          <a:xfrm>
            <a:off x="673417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63" name="Rectangle 98"/>
          <p:cNvSpPr>
            <a:spLocks noChangeArrowheads="1"/>
          </p:cNvSpPr>
          <p:nvPr/>
        </p:nvSpPr>
        <p:spPr bwMode="auto">
          <a:xfrm>
            <a:off x="6813550" y="5181600"/>
            <a:ext cx="11382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LYMPHOCYTES</a:t>
            </a:r>
          </a:p>
        </p:txBody>
      </p:sp>
      <p:sp>
        <p:nvSpPr>
          <p:cNvPr id="13364" name="Rectangle 99"/>
          <p:cNvSpPr>
            <a:spLocks noChangeArrowheads="1"/>
          </p:cNvSpPr>
          <p:nvPr/>
        </p:nvSpPr>
        <p:spPr bwMode="auto">
          <a:xfrm>
            <a:off x="6734175" y="5105400"/>
            <a:ext cx="1266825" cy="38100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65" name="Line 101"/>
          <p:cNvSpPr>
            <a:spLocks noChangeShapeType="1"/>
          </p:cNvSpPr>
          <p:nvPr/>
        </p:nvSpPr>
        <p:spPr bwMode="auto">
          <a:xfrm>
            <a:off x="5867400" y="4953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Line 102"/>
          <p:cNvSpPr>
            <a:spLocks noChangeShapeType="1"/>
          </p:cNvSpPr>
          <p:nvPr/>
        </p:nvSpPr>
        <p:spPr bwMode="auto">
          <a:xfrm>
            <a:off x="58674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7" name="Line 103"/>
          <p:cNvSpPr>
            <a:spLocks noChangeShapeType="1"/>
          </p:cNvSpPr>
          <p:nvPr/>
        </p:nvSpPr>
        <p:spPr bwMode="auto">
          <a:xfrm>
            <a:off x="73914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8" name="Line 105"/>
          <p:cNvSpPr>
            <a:spLocks noChangeShapeType="1"/>
          </p:cNvSpPr>
          <p:nvPr/>
        </p:nvSpPr>
        <p:spPr bwMode="auto">
          <a:xfrm>
            <a:off x="6629400" y="4724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9" name="Text Box 106"/>
          <p:cNvSpPr txBox="1">
            <a:spLocks noChangeArrowheads="1"/>
          </p:cNvSpPr>
          <p:nvPr/>
        </p:nvSpPr>
        <p:spPr bwMode="auto">
          <a:xfrm>
            <a:off x="4953000" y="4114800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Agranulocytes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Mononucleated</a:t>
            </a:r>
          </a:p>
        </p:txBody>
      </p:sp>
    </p:spTree>
    <p:extLst>
      <p:ext uri="{BB962C8B-B14F-4D97-AF65-F5344CB8AC3E}">
        <p14:creationId xmlns:p14="http://schemas.microsoft.com/office/powerpoint/2010/main" val="1808060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385175" cy="746125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Blood cells – Formed Elements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4340" name="Picture 4" descr="tabl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85924"/>
            <a:ext cx="784860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9267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44475"/>
            <a:ext cx="8385175" cy="11271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Red blood cell</a:t>
            </a:r>
          </a:p>
        </p:txBody>
      </p:sp>
      <p:sp>
        <p:nvSpPr>
          <p:cNvPr id="153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62000" y="1219200"/>
            <a:ext cx="8229600" cy="3200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en-US" sz="2400" dirty="0">
              <a:effectLst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Red blood cells are small, flattened, doughnut-shaped disks whose centers are thinner than their edges.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It makes them flexible, so they can bend and flex to squeeze through tiny blood vessels.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They are red because they contain a protein called hemoglobin that is red in color because of iron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en-US" sz="2400" dirty="0">
              <a:effectLst/>
            </a:endParaRPr>
          </a:p>
        </p:txBody>
      </p:sp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724400"/>
            <a:ext cx="6781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141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44475"/>
            <a:ext cx="8385175" cy="11271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Red blood cell</a:t>
            </a:r>
          </a:p>
        </p:txBody>
      </p:sp>
      <p:sp>
        <p:nvSpPr>
          <p:cNvPr id="163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Red blood cells carry oxygen to body tissues and remove carbon dioxide (which bound with hemoglobin).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The process by which red blood cells are produced is called erythropoiesis.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Erythrocytes are continuously being produced in the bone marrow of large bones, at a rate of about 2 million per second. (In the embryo, the liver is the main site of red blood cell production).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In an adult, the total count of RBC is 4.5 to 5.5 million per mm</a:t>
            </a:r>
            <a:r>
              <a:rPr lang="en-US" altLang="zh-CN" sz="2800" baseline="30000" dirty="0">
                <a:effectLst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 of blood.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en-US" sz="2400" dirty="0"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4214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28600"/>
            <a:ext cx="48768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/>
              <a:t> White blood cell</a:t>
            </a: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82782" y="2133600"/>
            <a:ext cx="7772400" cy="20574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White blood cells are cells of the immune system defending the body against both infectious disease and foreign materials.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WBCs are found throughout the body, including the blood and lymphatic system.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effectLst/>
                <a:ea typeface="宋体" panose="02010600030101010101" pitchFamily="2" charset="-122"/>
              </a:rPr>
              <a:t>White cells called 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phagocytes can eat up the germs that cause diseases.</a:t>
            </a:r>
            <a:endParaRPr lang="en-US" altLang="en-US" sz="2400" dirty="0"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167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Platelets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1905000"/>
            <a:ext cx="8007350" cy="4572000"/>
          </a:xfrm>
        </p:spPr>
        <p:txBody>
          <a:bodyPr/>
          <a:lstStyle/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Platelets result from cell fragmentation and are involved with clotting by carrying chemicals essential to blood clotting.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ffectLst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There are 150,000 to 300,000 platelets in each milliliter of blood.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ffectLst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Without blood platelets, you would bleed to death.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ffectLst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Platelets survive for 10 days before being removed by the liver and spleen.</a:t>
            </a:r>
            <a:endParaRPr lang="en-US" alt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9150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44475"/>
            <a:ext cx="4343400" cy="8223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Platelets (contd.)</a:t>
            </a:r>
          </a:p>
        </p:txBody>
      </p:sp>
      <p:sp>
        <p:nvSpPr>
          <p:cNvPr id="194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600200"/>
            <a:ext cx="4876800" cy="3886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If a blood vessel is cut, platelets stick to the edges of the cut and to one another, forming a plug that stops bleeding.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They then release chemicals that react with </a:t>
            </a:r>
            <a:r>
              <a:rPr lang="en-US" altLang="en-US" sz="2400" i="1" dirty="0">
                <a:effectLst/>
              </a:rPr>
              <a:t>fibrinogen</a:t>
            </a:r>
            <a:r>
              <a:rPr lang="en-US" altLang="en-US" sz="2400" dirty="0">
                <a:effectLst/>
              </a:rPr>
              <a:t> and other clotting proteins, leading to the formation of a blood clot. 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The blood vessel can then heal over the cut area.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3733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1342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458200" cy="5715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838200" y="228600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Production of Blood Cells</a:t>
            </a:r>
          </a:p>
        </p:txBody>
      </p:sp>
    </p:spTree>
    <p:extLst>
      <p:ext uri="{BB962C8B-B14F-4D97-AF65-F5344CB8AC3E}">
        <p14:creationId xmlns:p14="http://schemas.microsoft.com/office/powerpoint/2010/main" val="28755781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381000"/>
            <a:ext cx="4343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C00000"/>
                </a:solidFill>
              </a:rPr>
              <a:t>Types Of Blood</a:t>
            </a:r>
          </a:p>
        </p:txBody>
      </p:sp>
      <p:sp>
        <p:nvSpPr>
          <p:cNvPr id="2355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773382"/>
            <a:ext cx="80010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Human blood is grouped into four types: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A, B, AB, and O </a:t>
            </a:r>
            <a:r>
              <a:rPr lang="en-US" altLang="zh-CN" sz="2600" u="sng" dirty="0">
                <a:effectLst/>
                <a:ea typeface="宋体" panose="02010600030101010101" pitchFamily="2" charset="-122"/>
              </a:rPr>
              <a:t>based on two antigens A and B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u="sng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Each letter refers to a kind of antigen, or protein, on the surface of red blood cells.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Each blood type is also grouped by its Rhesus factor, or Rh factor</a:t>
            </a:r>
          </a:p>
          <a:p>
            <a:pPr eaLnBrk="1" hangingPunct="1">
              <a:lnSpc>
                <a:spcPct val="80000"/>
              </a:lnSpc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Blood is either Rh positive (Rh+) or Rh negative (Rh-).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0445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8610600" cy="62984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622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65018" y="228600"/>
            <a:ext cx="4343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C00000"/>
                </a:solidFill>
              </a:rPr>
              <a:t>Types Of Blood</a:t>
            </a:r>
          </a:p>
        </p:txBody>
      </p:sp>
      <p:sp>
        <p:nvSpPr>
          <p:cNvPr id="256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85800" y="1676400"/>
            <a:ext cx="8001000" cy="571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2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effectLst/>
              </a:rPr>
              <a:t>Type</a:t>
            </a:r>
            <a:r>
              <a:rPr lang="en-US" altLang="en-US" sz="2800" b="1" dirty="0">
                <a:effectLst/>
              </a:rPr>
              <a:t> O- </a:t>
            </a:r>
            <a:r>
              <a:rPr lang="en-US" altLang="en-US" sz="2800" dirty="0">
                <a:effectLst/>
              </a:rPr>
              <a:t>blood is considered the </a:t>
            </a:r>
            <a:r>
              <a:rPr lang="en-US" altLang="en-US" sz="2800" b="1" dirty="0">
                <a:effectLst/>
              </a:rPr>
              <a:t>“universal donor” </a:t>
            </a:r>
            <a:r>
              <a:rPr lang="en-US" altLang="en-US" sz="2800" dirty="0">
                <a:effectLst/>
              </a:rPr>
              <a:t>because it can be donated to people of any blood type. It contains no antigen.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>
              <a:effectLst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dirty="0">
              <a:effectLst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effectLst/>
              </a:rPr>
              <a:t>Type </a:t>
            </a:r>
            <a:r>
              <a:rPr lang="en-US" altLang="en-US" sz="2800" b="1" dirty="0">
                <a:effectLst/>
              </a:rPr>
              <a:t>AB+</a:t>
            </a:r>
            <a:r>
              <a:rPr lang="en-US" altLang="en-US" sz="2800" dirty="0">
                <a:effectLst/>
              </a:rPr>
              <a:t> blood is considered the </a:t>
            </a:r>
            <a:r>
              <a:rPr lang="en-US" altLang="en-US" sz="2800" b="1" dirty="0">
                <a:effectLst/>
              </a:rPr>
              <a:t>“universal recipient” </a:t>
            </a:r>
            <a:r>
              <a:rPr lang="en-US" altLang="en-US" sz="2800" dirty="0">
                <a:effectLst/>
              </a:rPr>
              <a:t>because people with this type can receive any blood type. It contain both the antigens and will not produce any antibody against foreign antigen.  </a:t>
            </a:r>
          </a:p>
        </p:txBody>
      </p:sp>
    </p:spTree>
    <p:extLst>
      <p:ext uri="{BB962C8B-B14F-4D97-AF65-F5344CB8AC3E}">
        <p14:creationId xmlns:p14="http://schemas.microsoft.com/office/powerpoint/2010/main" val="378235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4"/>
          <p:cNvSpPr>
            <a:spLocks noGrp="1" noChangeArrowheads="1"/>
          </p:cNvSpPr>
          <p:nvPr>
            <p:ph type="title"/>
          </p:nvPr>
        </p:nvSpPr>
        <p:spPr>
          <a:xfrm>
            <a:off x="4826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rgbClr val="C00000"/>
                </a:solidFill>
              </a:rPr>
              <a:t>Rh</a:t>
            </a:r>
            <a:r>
              <a:rPr lang="en-US" dirty="0">
                <a:solidFill>
                  <a:srgbClr val="C00000"/>
                </a:solidFill>
              </a:rPr>
              <a:t> blood type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98638"/>
            <a:ext cx="6172200" cy="45259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effectLst/>
              </a:rPr>
              <a:t>Another red blood cell surface antigen,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effectLst/>
              </a:rPr>
              <a:t>called Rh factor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effectLst/>
              </a:rPr>
              <a:t>Rh+ ……individual has Rh antigen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Rh-……individual do not has Rh antigen;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their immune systems respond to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any foreign Rh antigen by making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antibodies against it</a:t>
            </a:r>
          </a:p>
        </p:txBody>
      </p:sp>
      <p:pic>
        <p:nvPicPr>
          <p:cNvPr id="26628" name="Picture 7" descr="rhesusmonky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34200" y="2514600"/>
            <a:ext cx="1778000" cy="1790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178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762000"/>
            <a:ext cx="8153400" cy="990600"/>
          </a:xfrm>
        </p:spPr>
        <p:txBody>
          <a:bodyPr>
            <a:normAutofit/>
          </a:bodyPr>
          <a:lstStyle/>
          <a:p>
            <a:pPr algn="ctr"/>
            <a:r>
              <a:rPr lang="en-US" sz="5400" b="1" i="1" dirty="0">
                <a:solidFill>
                  <a:srgbClr val="C00000"/>
                </a:solidFill>
              </a:rPr>
              <a:t>Questions?</a:t>
            </a:r>
          </a:p>
        </p:txBody>
      </p:sp>
      <p:pic>
        <p:nvPicPr>
          <p:cNvPr id="1026" name="Picture 2" descr="http://thumbs.dreamstime.com/z/happy-blood-cartoon-illustration-isolated-white-48180967.jpg"/>
          <p:cNvPicPr>
            <a:picLocks noChangeAspect="1" noChangeArrowheads="1"/>
          </p:cNvPicPr>
          <p:nvPr/>
        </p:nvPicPr>
        <p:blipFill>
          <a:blip r:embed="rId2"/>
          <a:srcRect b="8977"/>
          <a:stretch>
            <a:fillRect/>
          </a:stretch>
        </p:blipFill>
        <p:spPr bwMode="auto">
          <a:xfrm>
            <a:off x="1447800" y="1828800"/>
            <a:ext cx="5486400" cy="4191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753</TotalTime>
  <Words>2386</Words>
  <Application>Microsoft Macintosh PowerPoint</Application>
  <PresentationFormat>On-screen Show (4:3)</PresentationFormat>
  <Paragraphs>314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宋体</vt:lpstr>
      <vt:lpstr>Arial</vt:lpstr>
      <vt:lpstr>Calibri</vt:lpstr>
      <vt:lpstr>Impact</vt:lpstr>
      <vt:lpstr>inherit</vt:lpstr>
      <vt:lpstr>Times New Roman</vt:lpstr>
      <vt:lpstr>Tw Cen MT</vt:lpstr>
      <vt:lpstr>Wingdings</vt:lpstr>
      <vt:lpstr>Wingdings 2</vt:lpstr>
      <vt:lpstr>Median</vt:lpstr>
      <vt:lpstr>  Circulatory system</vt:lpstr>
      <vt:lpstr>Human Circulatory System</vt:lpstr>
      <vt:lpstr>Circulatory System</vt:lpstr>
      <vt:lpstr>Circulatory System- Vital Functions</vt:lpstr>
      <vt:lpstr>Circulatory System- Basic Structures</vt:lpstr>
      <vt:lpstr>Part of the Circulatory System</vt:lpstr>
      <vt:lpstr>Anatomy- Heart</vt:lpstr>
      <vt:lpstr>PowerPoint Presentation</vt:lpstr>
      <vt:lpstr>Anatomy- Heart</vt:lpstr>
      <vt:lpstr>PowerPoint Presentation</vt:lpstr>
      <vt:lpstr>Blood Vessels</vt:lpstr>
      <vt:lpstr>Blood Vessels</vt:lpstr>
      <vt:lpstr>Difference between Artery and Vein</vt:lpstr>
      <vt:lpstr>Blood Circulation in Heart: </vt:lpstr>
      <vt:lpstr>Blood Vessels</vt:lpstr>
      <vt:lpstr>The Pathway of Blood Circulation</vt:lpstr>
      <vt:lpstr>Systemic Circuit &amp; Pulmonary Circuit </vt:lpstr>
      <vt:lpstr>PowerPoint Presentation</vt:lpstr>
      <vt:lpstr>Disorders</vt:lpstr>
      <vt:lpstr>Disorders</vt:lpstr>
      <vt:lpstr>How arteries get blocked</vt:lpstr>
      <vt:lpstr>How to avoid heart diseases </vt:lpstr>
      <vt:lpstr>What is blood?</vt:lpstr>
      <vt:lpstr>PowerPoint Presentation</vt:lpstr>
      <vt:lpstr>Function of Blood</vt:lpstr>
      <vt:lpstr>Composition of Blood</vt:lpstr>
      <vt:lpstr>Blood Components</vt:lpstr>
      <vt:lpstr>Blood Component: Plasma</vt:lpstr>
      <vt:lpstr>Plasma </vt:lpstr>
      <vt:lpstr>Plasma</vt:lpstr>
      <vt:lpstr>Plasma</vt:lpstr>
      <vt:lpstr>Plasma</vt:lpstr>
      <vt:lpstr>Blood Components: Formed elements</vt:lpstr>
      <vt:lpstr>Formed elements </vt:lpstr>
      <vt:lpstr>Blood cells – Formed Elements</vt:lpstr>
      <vt:lpstr>Red blood cell</vt:lpstr>
      <vt:lpstr>Red blood cell</vt:lpstr>
      <vt:lpstr> White blood cell</vt:lpstr>
      <vt:lpstr>Platelets</vt:lpstr>
      <vt:lpstr>Platelets (contd.)</vt:lpstr>
      <vt:lpstr>PowerPoint Presentation</vt:lpstr>
      <vt:lpstr>Types Of Blood</vt:lpstr>
      <vt:lpstr>PowerPoint Presentation</vt:lpstr>
      <vt:lpstr>Types Of Blood</vt:lpstr>
      <vt:lpstr>Rh blood type</vt:lpstr>
      <vt:lpstr>Questions?</vt:lpstr>
    </vt:vector>
  </TitlesOfParts>
  <Company>SMART Technologies (BD)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Biology 1  Lecture 16</dc:title>
  <dc:creator>Ehsan</dc:creator>
  <cp:lastModifiedBy>Farhana Easmin</cp:lastModifiedBy>
  <cp:revision>90</cp:revision>
  <dcterms:created xsi:type="dcterms:W3CDTF">2013-03-24T08:05:24Z</dcterms:created>
  <dcterms:modified xsi:type="dcterms:W3CDTF">2026-04-18T02:12:28Z</dcterms:modified>
</cp:coreProperties>
</file>